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4E4C3F5-08A3-AE57-37B7-F832387889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98323" y="0"/>
            <a:ext cx="9144000" cy="677442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323" y="473075"/>
            <a:ext cx="5201264" cy="1470025"/>
          </a:xfrm>
        </p:spPr>
        <p:txBody>
          <a:bodyPr>
            <a:normAutofit fontScale="90000"/>
          </a:bodyPr>
          <a:lstStyle/>
          <a:p>
            <a:r>
              <a:rPr dirty="0"/>
              <a:t>Pharmacy Sales Performance Analysis (2022–2024)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4C79030-7F7B-C221-4877-ECDC310CEF4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0936"/>
          </a:xfrm>
        </p:spPr>
        <p:txBody>
          <a:bodyPr>
            <a:noAutofit/>
          </a:bodyPr>
          <a:lstStyle/>
          <a:p>
            <a:r>
              <a:rPr sz="2800" b="1" dirty="0"/>
              <a:t>Overall Performance &amp; Brand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9657"/>
            <a:ext cx="8229600" cy="54428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2400" b="1" dirty="0"/>
              <a:t>Business Performance Overview (2022–2024</a:t>
            </a:r>
            <a:r>
              <a:rPr lang="en-US" sz="2400" b="1" dirty="0"/>
              <a:t>)</a:t>
            </a:r>
            <a:endParaRPr lang="en-US" sz="4000" b="1" dirty="0"/>
          </a:p>
          <a:p>
            <a:pPr marL="0" indent="0">
              <a:buNone/>
            </a:pPr>
            <a:endParaRPr sz="5900" dirty="0"/>
          </a:p>
          <a:p>
            <a:pPr marL="0" indent="0">
              <a:buNone/>
            </a:pPr>
            <a:endParaRPr sz="3400" dirty="0"/>
          </a:p>
          <a:p>
            <a:pPr marL="0" indent="0">
              <a:buNone/>
            </a:pPr>
            <a:endParaRPr sz="3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FC0F4C-104B-8634-16B5-A4A3BD2CE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509671"/>
              </p:ext>
            </p:extLst>
          </p:nvPr>
        </p:nvGraphicFramePr>
        <p:xfrm>
          <a:off x="2241755" y="1442720"/>
          <a:ext cx="508327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1639">
                  <a:extLst>
                    <a:ext uri="{9D8B030D-6E8A-4147-A177-3AD203B41FA5}">
                      <a16:colId xmlns:a16="http://schemas.microsoft.com/office/drawing/2014/main" val="2289269529"/>
                    </a:ext>
                  </a:extLst>
                </a:gridCol>
                <a:gridCol w="2541639">
                  <a:extLst>
                    <a:ext uri="{9D8B030D-6E8A-4147-A177-3AD203B41FA5}">
                      <a16:colId xmlns:a16="http://schemas.microsoft.com/office/drawing/2014/main" val="3633504426"/>
                    </a:ext>
                  </a:extLst>
                </a:gridCol>
              </a:tblGrid>
              <a:tr h="46219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Total Sales reached 45.04M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Gross Sales recorded 52.89M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90051"/>
                  </a:ext>
                </a:extLst>
              </a:tr>
              <a:tr h="46219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Total Profit generated 15.83M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Total Units Sold reached 202K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77883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D454F9-A3A7-894A-2A0A-08FBDB22A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598059"/>
              </p:ext>
            </p:extLst>
          </p:nvPr>
        </p:nvGraphicFramePr>
        <p:xfrm>
          <a:off x="6076335" y="3597454"/>
          <a:ext cx="2762864" cy="2103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62864">
                  <a:extLst>
                    <a:ext uri="{9D8B030D-6E8A-4147-A177-3AD203B41FA5}">
                      <a16:colId xmlns:a16="http://schemas.microsoft.com/office/drawing/2014/main" val="54956973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Top Brands by Profit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3040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Lupin – 23.4M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1368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Cipla – 21.81M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62132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Aurobindo – 20.1M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43495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Sun Pharma – 19.5M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07519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DECA9BC-50F9-790E-3B18-2BA1077103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17159"/>
              </p:ext>
            </p:extLst>
          </p:nvPr>
        </p:nvGraphicFramePr>
        <p:xfrm>
          <a:off x="304801" y="3581067"/>
          <a:ext cx="2762864" cy="21195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762864">
                  <a:extLst>
                    <a:ext uri="{9D8B030D-6E8A-4147-A177-3AD203B41FA5}">
                      <a16:colId xmlns:a16="http://schemas.microsoft.com/office/drawing/2014/main" val="1552643745"/>
                    </a:ext>
                  </a:extLst>
                </a:gridCol>
              </a:tblGrid>
              <a:tr h="423901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Top Brands by Sales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161879"/>
                  </a:ext>
                </a:extLst>
              </a:tr>
              <a:tr h="423901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Lupin – 6.59M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293830"/>
                  </a:ext>
                </a:extLst>
              </a:tr>
              <a:tr h="423901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Cipla – 6.18M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1568144"/>
                  </a:ext>
                </a:extLst>
              </a:tr>
              <a:tr h="423901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Sun Pharma – 57.6M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887747"/>
                  </a:ext>
                </a:extLst>
              </a:tr>
              <a:tr h="423901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Aurobindo – 56.1M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14718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47BCEE-D23C-AC75-7EB3-29FAFEC5CBF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&amp; City-Level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Regional Sales and Profit Performance</a:t>
            </a:r>
          </a:p>
          <a:p>
            <a:r>
              <a:t>South has more sales compared to the remaining three regions.</a:t>
            </a:r>
          </a:p>
          <a:p>
            <a:endParaRPr/>
          </a:p>
          <a:p>
            <a:r>
              <a:t>City-Level Performance</a:t>
            </a:r>
          </a:p>
          <a:p>
            <a:r>
              <a:t>Chennai tops the sales and profit by city</a:t>
            </a:r>
          </a:p>
          <a:p>
            <a:r>
              <a:t>Followed by Mumbai</a:t>
            </a:r>
          </a:p>
          <a:p>
            <a:r>
              <a:t>Followed by Kolkata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1DA767-E2A4-3BCB-3123-DBFE259E6E4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Category-Level Demand &amp; Distribution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Highest Performing Categories by Units Sold</a:t>
            </a:r>
          </a:p>
          <a:p>
            <a:r>
              <a:t>Orals</a:t>
            </a:r>
          </a:p>
          <a:p>
            <a:r>
              <a:t>Otic</a:t>
            </a:r>
          </a:p>
          <a:p>
            <a:r>
              <a:t>Topical</a:t>
            </a:r>
          </a:p>
          <a:p>
            <a:r>
              <a:t>Inhalations</a:t>
            </a:r>
          </a:p>
          <a:p>
            <a:r>
              <a:t>Parenterals</a:t>
            </a:r>
          </a:p>
          <a:p>
            <a:r>
              <a:t>Insight: These are the top five categories in terms of units sold and require sufficient stock availability to avoid shortages.</a:t>
            </a:r>
          </a:p>
          <a:p>
            <a:endParaRPr/>
          </a:p>
          <a:p>
            <a:r>
              <a:t>Regional Distribution Recommendation</a:t>
            </a:r>
          </a:p>
          <a:p>
            <a:r>
              <a:t>South has more units sold, so ship more to them to avoid operational issues.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434024-05B6-54FC-6085-16CEC407841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114300"/>
            <a:ext cx="9144000" cy="67437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City-Level Distribution Priorities &amp; Monthly Demand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dirty="0"/>
              <a:t>City-Level Shipping Priorities</a:t>
            </a:r>
          </a:p>
          <a:p>
            <a:r>
              <a:rPr dirty="0"/>
              <a:t>Chennai</a:t>
            </a:r>
          </a:p>
          <a:p>
            <a:r>
              <a:rPr dirty="0"/>
              <a:t>Mumbai</a:t>
            </a:r>
          </a:p>
          <a:p>
            <a:r>
              <a:rPr dirty="0"/>
              <a:t>Bhubaneswar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dirty="0"/>
              <a:t>These cities have more units sold and shipping should be prioritized to these cities.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Peak Demand Months</a:t>
            </a:r>
          </a:p>
          <a:p>
            <a:r>
              <a:rPr dirty="0"/>
              <a:t>May</a:t>
            </a:r>
          </a:p>
          <a:p>
            <a:r>
              <a:rPr dirty="0"/>
              <a:t>October</a:t>
            </a:r>
          </a:p>
          <a:p>
            <a:r>
              <a:rPr dirty="0"/>
              <a:t>December</a:t>
            </a:r>
          </a:p>
          <a:p>
            <a:r>
              <a:rPr dirty="0"/>
              <a:t>September</a:t>
            </a:r>
          </a:p>
          <a:p>
            <a:r>
              <a:rPr dirty="0"/>
              <a:t>March</a:t>
            </a:r>
          </a:p>
          <a:p>
            <a:r>
              <a:rPr dirty="0"/>
              <a:t>July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Units sold are higher during these months.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B4CF78-81B8-BFDC-8DA6-5DA0BE04D0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62680"/>
            <a:ext cx="9144000" cy="67953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Sub-Category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Highest Performing Sub-Categories by Units Sold</a:t>
            </a:r>
          </a:p>
          <a:p>
            <a:r>
              <a:rPr dirty="0"/>
              <a:t>Reservoir Patch → 21,310 units</a:t>
            </a:r>
          </a:p>
          <a:p>
            <a:r>
              <a:rPr dirty="0"/>
              <a:t>Tablet → 13,496 units</a:t>
            </a:r>
          </a:p>
          <a:p>
            <a:r>
              <a:rPr dirty="0"/>
              <a:t>Dry Powder Inhaler (DPI) → 13,006 units</a:t>
            </a:r>
          </a:p>
          <a:p>
            <a:r>
              <a:rPr dirty="0"/>
              <a:t>Intravenous (IV) → 12,997 units</a:t>
            </a:r>
          </a:p>
          <a:p>
            <a:r>
              <a:rPr dirty="0"/>
              <a:t>Otic Suspension → 12,356 units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Transdermal and respiratory-support products dominate annual demand.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4827A7-1A76-DE32-2954-F727516D6AF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66367"/>
            <a:ext cx="9144000" cy="679163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Business Insight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Transdermal patches dominate total utilization</a:t>
            </a:r>
          </a:p>
          <a:p>
            <a:r>
              <a:t>Oral tablets remain the most stable demand driver</a:t>
            </a:r>
          </a:p>
          <a:p>
            <a:r>
              <a:t>Respiratory therapy products show strong seasonal spikes</a:t>
            </a:r>
          </a:p>
          <a:p>
            <a:r>
              <a:t>Mid-year months contribute the highest dispensing volume</a:t>
            </a:r>
          </a:p>
          <a:p>
            <a:r>
              <a:t>Specialized therapies maintain steady but lower contribution levels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293</Words>
  <Application>Microsoft Office PowerPoint</Application>
  <PresentationFormat>On-screen Show (4:3)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Pharmacy Sales Performance Analysis (2022–2024)</vt:lpstr>
      <vt:lpstr>Overall Performance &amp; Brand Contribution</vt:lpstr>
      <vt:lpstr>Regional &amp; City-Level Performance</vt:lpstr>
      <vt:lpstr>Category-Level Demand &amp; Distribution Planning</vt:lpstr>
      <vt:lpstr>City-Level Distribution Priorities &amp; Monthly Demand Trends</vt:lpstr>
      <vt:lpstr>Sub-Category Performance Analysis</vt:lpstr>
      <vt:lpstr>Strategic Business Insight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bhattu charan</dc:creator>
  <cp:keywords/>
  <dc:description>generated using python-pptx</dc:description>
  <cp:lastModifiedBy>bhattu charan</cp:lastModifiedBy>
  <cp:revision>2</cp:revision>
  <dcterms:created xsi:type="dcterms:W3CDTF">2013-01-27T09:14:16Z</dcterms:created>
  <dcterms:modified xsi:type="dcterms:W3CDTF">2026-05-02T23:27:03Z</dcterms:modified>
  <cp:category/>
</cp:coreProperties>
</file>